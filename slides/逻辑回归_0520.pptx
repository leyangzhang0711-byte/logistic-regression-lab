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70" r:id="rId12"/>
    <p:sldId id="264" r:id="rId13"/>
    <p:sldId id="268" r:id="rId14"/>
    <p:sldId id="266" r:id="rId15"/>
    <p:sldId id="269" r:id="rId16"/>
    <p:sldId id="265" r:id="rId17"/>
  </p:sldIdLst>
  <p:sldSz cx="16256000" cy="9144000"/>
  <p:notesSz cx="9144000" cy="16256000"/>
  <p:embeddedFontLst>
    <p:embeddedFont>
      <p:font typeface="微软雅黑" panose="020B0503020204020204" charset="-122"/>
      <p:regular r:id="rId21"/>
      <p:bold r:id="rId22"/>
    </p:embeddedFont>
    <p:embeddedFont>
      <p:font typeface="Liter" panose="02000503030000020004" pitchFamily="34" charset="0"/>
      <p:regular r:id="rId23"/>
    </p:embeddedFont>
    <p:embeddedFont>
      <p:font typeface="Liter" panose="02000503030000020004" pitchFamily="34" charset="-122"/>
      <p:regular r:id="rId24"/>
    </p:embeddedFont>
    <p:embeddedFont>
      <p:font typeface="Liter" panose="02000503030000020004" pitchFamily="34" charset="-120"/>
      <p:regular r:id="rId25"/>
    </p:embeddedFont>
    <p:embeddedFont>
      <p:font typeface="等线" panose="02010600030101010101" charset="-122"/>
      <p:regular r:id="rId26"/>
      <p:bold r:id="rId27"/>
    </p:embeddedFont>
    <p:embeddedFont>
      <p:font typeface="等线 Light" panose="02010600030101010101" charset="-122"/>
      <p:regular r:id="rId2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7600" indent="0" algn="ctr">
              <a:buNone/>
              <a:defRPr sz="2135"/>
            </a:lvl7pPr>
            <a:lvl8pPr marL="4267200" indent="0" algn="ctr">
              <a:buNone/>
              <a:defRPr sz="2135"/>
            </a:lvl8pPr>
            <a:lvl9pPr marL="4876800" indent="0" algn="ctr">
              <a:buNone/>
              <a:defRPr sz="213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600" indent="0">
              <a:buNone/>
              <a:defRPr sz="2665">
                <a:solidFill>
                  <a:schemeClr val="tx1">
                    <a:tint val="82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82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82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82000"/>
                  </a:schemeClr>
                </a:solidFill>
              </a:defRPr>
            </a:lvl6pPr>
            <a:lvl7pPr marL="3657600" indent="0">
              <a:buNone/>
              <a:defRPr sz="2135">
                <a:solidFill>
                  <a:schemeClr val="tx1">
                    <a:tint val="82000"/>
                  </a:schemeClr>
                </a:solidFill>
              </a:defRPr>
            </a:lvl7pPr>
            <a:lvl8pPr marL="4267200" indent="0">
              <a:buNone/>
              <a:defRPr sz="2135">
                <a:solidFill>
                  <a:schemeClr val="tx1">
                    <a:tint val="82000"/>
                  </a:schemeClr>
                </a:solidFill>
              </a:defRPr>
            </a:lvl8pPr>
            <a:lvl9pPr marL="4876800" indent="0">
              <a:buNone/>
              <a:defRPr sz="213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5"/>
            </a:lvl1pPr>
            <a:lvl2pPr marL="609600" indent="0">
              <a:buNone/>
              <a:defRPr sz="1865"/>
            </a:lvl2pPr>
            <a:lvl3pPr marL="1219200" indent="0">
              <a:buNone/>
              <a:defRPr sz="1600"/>
            </a:lvl3pPr>
            <a:lvl4pPr marL="1828800" indent="0">
              <a:buNone/>
              <a:defRPr sz="1335"/>
            </a:lvl4pPr>
            <a:lvl5pPr marL="2438400" indent="0">
              <a:buNone/>
              <a:defRPr sz="1335"/>
            </a:lvl5pPr>
            <a:lvl6pPr marL="3048000" indent="0">
              <a:buNone/>
              <a:defRPr sz="1335"/>
            </a:lvl6pPr>
            <a:lvl7pPr marL="3657600" indent="0">
              <a:buNone/>
              <a:defRPr sz="1335"/>
            </a:lvl7pPr>
            <a:lvl8pPr marL="4267200" indent="0">
              <a:buNone/>
              <a:defRPr sz="1335"/>
            </a:lvl8pPr>
            <a:lvl9pPr marL="4876800" indent="0">
              <a:buNone/>
              <a:defRPr sz="13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5"/>
            </a:lvl1pPr>
            <a:lvl2pPr marL="609600" indent="0">
              <a:buNone/>
              <a:defRPr sz="1865"/>
            </a:lvl2pPr>
            <a:lvl3pPr marL="1219200" indent="0">
              <a:buNone/>
              <a:defRPr sz="1600"/>
            </a:lvl3pPr>
            <a:lvl4pPr marL="1828800" indent="0">
              <a:buNone/>
              <a:defRPr sz="1335"/>
            </a:lvl4pPr>
            <a:lvl5pPr marL="2438400" indent="0">
              <a:buNone/>
              <a:defRPr sz="1335"/>
            </a:lvl5pPr>
            <a:lvl6pPr marL="3048000" indent="0">
              <a:buNone/>
              <a:defRPr sz="1335"/>
            </a:lvl6pPr>
            <a:lvl7pPr marL="3657600" indent="0">
              <a:buNone/>
              <a:defRPr sz="1335"/>
            </a:lvl7pPr>
            <a:lvl8pPr marL="4267200" indent="0">
              <a:buNone/>
              <a:defRPr sz="1335"/>
            </a:lvl8pPr>
            <a:lvl9pPr marL="4876800" indent="0">
              <a:buNone/>
              <a:defRPr sz="13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1219200" rtl="0" eaLnBrk="1" latinLnBrk="0" hangingPunct="1">
        <a:lnSpc>
          <a:spcPct val="90000"/>
        </a:lnSpc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latinLnBrk="0" hangingPunct="1">
        <a:lnSpc>
          <a:spcPct val="90000"/>
        </a:lnSpc>
        <a:spcBef>
          <a:spcPts val="1335"/>
        </a:spcBef>
        <a:buFont typeface="Arial" panose="020B0604020202020204" pitchFamily="34" charset="0"/>
        <a:buChar char="•"/>
        <a:defRPr sz="3735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image" Target="../media/image20.G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3269" y="228600"/>
            <a:ext cx="13693321" cy="3962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8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矩阵实验课—逻辑回归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032000" y="4838700"/>
            <a:ext cx="1219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 err="1">
                <a:solidFill>
                  <a:srgbClr val="FFFFFF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主讲人：张乐扬</a:t>
            </a:r>
            <a:endParaRPr lang="en-US" sz="4800" dirty="0">
              <a:solidFill>
                <a:srgbClr val="FFFFFF">
                  <a:alpha val="8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00000"/>
              </a:lnSpc>
            </a:pPr>
            <a:endParaRPr lang="en-US" sz="2400" dirty="0">
              <a:solidFill>
                <a:srgbClr val="FFFFFF">
                  <a:alpha val="8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zh-CN" altLang="en-US" sz="3200" dirty="0">
                <a:solidFill>
                  <a:srgbClr val="FFFFFF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第四小组：李亚捷 陈俊博 刘骐祯 缪恩涛 施博闻 俞天镒 张乐扬</a:t>
            </a:r>
            <a:endParaRPr lang="zh-CN" altLang="en-US" sz="3200" dirty="0"/>
          </a:p>
          <a:p>
            <a:pPr algn="ctr">
              <a:lnSpc>
                <a:spcPct val="100000"/>
              </a:lnSpc>
            </a:pPr>
            <a:endParaRPr lang="zh-CN" alt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7874000"/>
            <a:ext cx="16256000" cy="1270000"/>
          </a:xfrm>
          <a:prstGeom prst="rect">
            <a:avLst/>
          </a:prstGeom>
          <a:solidFill>
            <a:srgbClr val="FFFFFF">
              <a:alpha val="3137"/>
            </a:srgbClr>
          </a:solidFill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705100" cy="635000"/>
          </a:xfrm>
          <a:prstGeom prst="rect">
            <a:avLst/>
          </a:prstGeom>
          <a:solidFill>
            <a:srgbClr val="FFFFFF">
              <a:alpha val="12549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问题提出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模型建立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损失推导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关键转折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算法与实验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4800" b="1" dirty="0">
                <a:solidFill>
                  <a:srgbClr val="1A3A5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一、线性回归不能做分类吗？为什么需要逻辑回归？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762000" y="1572078"/>
            <a:ext cx="762000" cy="0"/>
          </a:xfrm>
          <a:prstGeom prst="straightConnector1">
            <a:avLst/>
          </a:prstGeom>
          <a:noFill/>
          <a:ln w="38100">
            <a:solidFill>
              <a:srgbClr val="C0392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762000" y="1778000"/>
                <a:ext cx="8288655" cy="69856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zh-CN" alt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问题背景：</a:t>
                </a:r>
                <a:endParaRPr lang="en-US" sz="2000" b="1" dirty="0">
                  <a:solidFill>
                    <a:srgbClr val="2C2C2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zh-CN" alt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假设我们要预测一封邮件是否是垃圾邮件，标签 𝑦∈</a:t>
                </a:r>
                <a:r>
                  <a:rPr lang="en-US" altLang="zh-CN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{0,1}</a:t>
                </a:r>
                <a:endParaRPr lang="en-US" sz="2000" b="1" dirty="0">
                  <a:solidFill>
                    <a:srgbClr val="2C2C2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1. 输出值域问题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limUpp>
                      <m:limUppPr>
                        <m:ctrlP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𝒚</m:t>
                        </m:r>
                      </m:e>
                      <m:lim>
                        <m:r>
                          <a:rPr lang="en-US" sz="2000" b="1" i="1" dirty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^</m:t>
                        </m:r>
                      </m:lim>
                    </m:limUpp>
                    <m:r>
                      <a:rPr lang="en-US" sz="2000" b="1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0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:r>
                  <a:rPr lang="en-US" sz="20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值域为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(−∞,+∞)</m:t>
                    </m:r>
                  </m:oMath>
                </a14:m>
                <a:r>
                  <a:rPr 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但分类问题需要输出 概率（范围 </a:t>
                </a:r>
                <a14:m>
                  <m:oMath xmlns:m="http://schemas.openxmlformats.org/officeDocument/2006/math"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[</m:t>
                    </m:r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），线性回归无法直接满足。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  <a:spcBef>
                    <a:spcPts val="1200"/>
                  </a:spcBef>
                </a:pPr>
                <a:r>
                  <a:rPr 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2. 对异常点敏感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线性回归使用均方误差（MSE），对异常点非常敏感。一个远离决策边界的点可能大幅改变回归线位置，导致分类效果变差。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  <a:spcBef>
                    <a:spcPts val="1200"/>
                  </a:spcBef>
                </a:pPr>
                <a:r>
                  <a:rPr 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3. 假设不合理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线性回归假设目标变量服从高斯分布，但二分类问题的标签是离散的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∈{</m:t>
                    </m:r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，不符合高斯假设。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  <a:spcBef>
                    <a:spcPts val="1600"/>
                  </a:spcBef>
                </a:pPr>
                <a:r>
                  <a:rPr lang="en-US" sz="2000" b="1" dirty="0">
                    <a:solidFill>
                      <a:srgbClr val="C0392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→ 需要引入新的模型：逻辑回归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78000"/>
                <a:ext cx="8288655" cy="698563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 0" descr="https://kimi-img.moonshot.cn/pub/slides/okc/k62qepaba46y6/mnt/agents/output/logistic_regression/images/image_1.png"/>
          <p:cNvPicPr>
            <a:picLocks noChangeAspect="1"/>
          </p:cNvPicPr>
          <p:nvPr/>
        </p:nvPicPr>
        <p:blipFill>
          <a:blip r:embed="rId2"/>
          <a:srcRect t="-46618" b="-46618"/>
          <a:stretch>
            <a:fillRect/>
          </a:stretch>
        </p:blipFill>
        <p:spPr>
          <a:xfrm>
            <a:off x="9003394" y="1240972"/>
            <a:ext cx="6727371" cy="72879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问题提出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22900" y="0"/>
            <a:ext cx="2705100" cy="635000"/>
          </a:xfrm>
          <a:prstGeom prst="rect">
            <a:avLst/>
          </a:prstGeom>
          <a:solidFill>
            <a:srgbClr val="FFFFFF">
              <a:alpha val="12549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5422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模型建立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损失推导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关键转折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算法与实验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889000"/>
            <a:ext cx="508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1A3A5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二、逻辑回归模型的建立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98600"/>
            <a:ext cx="762000" cy="0"/>
          </a:xfrm>
          <a:prstGeom prst="straightConnector1">
            <a:avLst/>
          </a:prstGeom>
          <a:noFill/>
          <a:ln w="38100">
            <a:solidFill>
              <a:srgbClr val="C0392B"/>
            </a:solidFill>
            <a:prstDash val="solid"/>
            <a:headEnd type="none"/>
            <a:tailEnd type="non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595993" y="1676399"/>
                <a:ext cx="8409214" cy="705121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1. Sigmoid 函数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引入 Sigmoid 函数将线性输出映射到 </a:t>
                </a:r>
                <a14:m>
                  <m:oMath xmlns:m="http://schemas.openxmlformats.org/officeDocument/2006/math"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[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𝝈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𝒛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1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400" b="1" dirty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𝒛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𝒙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。Sigmoid 函数具有良好的数学性质：</a:t>
                </a:r>
                <a:endParaRPr lang="en-US" sz="2400" b="1" dirty="0">
                  <a:solidFill>
                    <a:srgbClr val="2C2C2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连续可导、单调递增、输出范围有限。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  <a:spcBef>
                    <a:spcPts val="1200"/>
                  </a:spcBef>
                </a:pPr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2. 逻辑回归模型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             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𝑷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𝒚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𝟏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∣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𝒙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)=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𝝈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𝒙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𝒃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1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400" b="1" dirty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sz="2400" b="1" i="1" dirty="0"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 dirty="0"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2400" b="1" i="1" dirty="0"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b="1" dirty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sz="2400" b="1" dirty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  <a:spcBef>
                    <a:spcPts val="1200"/>
                  </a:spcBef>
                </a:pPr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3. 决策边界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当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𝑃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∣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)≥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.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时，预测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；否则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决策边界为：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𝒙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𝒃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（一条直线/超平面）。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93" y="1676399"/>
                <a:ext cx="8409214" cy="7051215"/>
              </a:xfrm>
              <a:prstGeom prst="rect">
                <a:avLst/>
              </a:prstGeom>
              <a:blipFill rotWithShape="1">
                <a:blip r:embed="rId1"/>
                <a:stretch>
                  <a:fillRect l="-4" t="-9" r="3" b="-45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 0" descr="https://kimi-img.moonshot.cn/pub/slides/okc/k62qepaba46y6/mnt/agents/output/logistic_regression/images/image_2.png"/>
          <p:cNvPicPr>
            <a:picLocks noChangeAspect="1"/>
          </p:cNvPicPr>
          <p:nvPr/>
        </p:nvPicPr>
        <p:blipFill>
          <a:blip r:embed="rId2"/>
          <a:srcRect t="-22294" b="-22294"/>
          <a:stretch>
            <a:fillRect/>
          </a:stretch>
        </p:blipFill>
        <p:spPr>
          <a:xfrm>
            <a:off x="8695055" y="548005"/>
            <a:ext cx="7380605" cy="3844290"/>
          </a:xfrm>
          <a:prstGeom prst="rect">
            <a:avLst/>
          </a:prstGeom>
        </p:spPr>
      </p:pic>
      <p:pic>
        <p:nvPicPr>
          <p:cNvPr id="14" name="Image 1" descr="https://kimi-img.moonshot.cn/pub/slides/okc/k62qepaba46y6/mnt/agents/output/logistic_regression/images/image_3.png"/>
          <p:cNvPicPr>
            <a:picLocks noChangeAspect="1"/>
          </p:cNvPicPr>
          <p:nvPr/>
        </p:nvPicPr>
        <p:blipFill>
          <a:blip r:embed="rId3"/>
          <a:srcRect l="5244" t="-5314" r="3236" b="688"/>
          <a:stretch>
            <a:fillRect/>
          </a:stretch>
        </p:blipFill>
        <p:spPr>
          <a:xfrm>
            <a:off x="8622665" y="3898900"/>
            <a:ext cx="7525385" cy="1826260"/>
          </a:xfrm>
          <a:prstGeom prst="rect">
            <a:avLst/>
          </a:prstGeom>
        </p:spPr>
      </p:pic>
      <p:pic>
        <p:nvPicPr>
          <p:cNvPr id="15" name="Image 2" descr="https://kimi-img.moonshot.cn/pub/slides/okc/k62qepaba46y6/mnt/agents/output/logistic_regression/images/image_1.png"/>
          <p:cNvPicPr>
            <a:picLocks noChangeAspect="1"/>
          </p:cNvPicPr>
          <p:nvPr/>
        </p:nvPicPr>
        <p:blipFill>
          <a:blip r:embed="rId4"/>
          <a:srcRect t="-46941" b="-46941"/>
          <a:stretch>
            <a:fillRect/>
          </a:stretch>
        </p:blipFill>
        <p:spPr>
          <a:xfrm>
            <a:off x="9876155" y="4726940"/>
            <a:ext cx="4852035" cy="52736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问题提出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模型建立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0" y="0"/>
            <a:ext cx="2705100" cy="635000"/>
          </a:xfrm>
          <a:prstGeom prst="rect">
            <a:avLst/>
          </a:prstGeom>
          <a:solidFill>
            <a:srgbClr val="FFFFFF">
              <a:alpha val="12549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81280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损失推导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关键转折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算法与实验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1A3A5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三、损失函数的推导——从最大似然到交叉熵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98600"/>
            <a:ext cx="762000" cy="0"/>
          </a:xfrm>
          <a:prstGeom prst="straightConnector1">
            <a:avLst/>
          </a:prstGeom>
          <a:noFill/>
          <a:ln w="38100">
            <a:solidFill>
              <a:srgbClr val="C0392B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62000" y="1841500"/>
            <a:ext cx="3556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12"/>
              <p:cNvSpPr/>
              <p:nvPr/>
            </p:nvSpPr>
            <p:spPr>
              <a:xfrm>
                <a:off x="1347113" y="4107850"/>
                <a:ext cx="9870615" cy="205165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en-US" sz="2800" b="1" dirty="0">
                    <a:solidFill>
                      <a:srgbClr val="2C2C2C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单样本概率</a:t>
                </a:r>
                <a:endParaRPr lang="en-US" sz="2800" dirty="0"/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𝒃</m:t>
                      </m:r>
                      <m:sSup>
                        <m:sSupPr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𝒚</m:t>
                          </m:r>
                        </m:sup>
                      </m:sSup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b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𝒚</m:t>
                          </m:r>
                        </m:sup>
                      </m:sSup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113" y="4107850"/>
                <a:ext cx="9870615" cy="2051652"/>
              </a:xfrm>
              <a:prstGeom prst="rect">
                <a:avLst/>
              </a:prstGeom>
              <a:blipFill rotWithShape="1">
                <a:blip r:embed="rId1"/>
                <a:stretch>
                  <a:fillRect l="-3" t="-2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694326" y="5946321"/>
            <a:ext cx="438147" cy="538398"/>
          </a:xfrm>
          <a:prstGeom prst="ellipse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2000" y="3048000"/>
            <a:ext cx="3556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15"/>
              <p:cNvSpPr/>
              <p:nvPr/>
            </p:nvSpPr>
            <p:spPr>
              <a:xfrm>
                <a:off x="1264925" y="5870121"/>
                <a:ext cx="7117075" cy="15757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en-US" sz="2800" b="1" dirty="0">
                    <a:solidFill>
                      <a:srgbClr val="2C2C2C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似然函数（对所有样本）</a:t>
                </a:r>
                <a:endParaRPr lang="en-US" sz="2800" dirty="0"/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dirty="0">
                              <a:latin typeface="Cambria Math" panose="02040503050406030204" pitchFamily="18" charset="0"/>
                            </a:rPr>
                            <m:t>∏</m:t>
                          </m:r>
                        </m:e>
                        <m:sub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800" b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800" b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925" y="5870121"/>
                <a:ext cx="7117075" cy="1575703"/>
              </a:xfrm>
              <a:prstGeom prst="rect">
                <a:avLst/>
              </a:prstGeom>
              <a:blipFill rotWithShape="1">
                <a:blip r:embed="rId2"/>
                <a:stretch>
                  <a:fillRect t="-11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16"/>
          <p:cNvSpPr/>
          <p:nvPr/>
        </p:nvSpPr>
        <p:spPr>
          <a:xfrm rot="21240000" flipH="1">
            <a:off x="859155" y="4523740"/>
            <a:ext cx="160020" cy="1346835"/>
          </a:xfrm>
          <a:prstGeom prst="straightConnector1">
            <a:avLst/>
          </a:prstGeom>
          <a:noFill/>
          <a:ln w="25400">
            <a:solidFill>
              <a:srgbClr val="E0DBD2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61" y="4041321"/>
            <a:ext cx="438147" cy="438147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789401" y="4041321"/>
            <a:ext cx="395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78702" y="1664452"/>
            <a:ext cx="15049312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首先，我们来明确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优化目标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现在手上有一批训练数据，比如 𝑛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=100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个样本，每个样本有特征 𝑥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𝑖和标签 𝑦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𝑖∈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{0,1}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我们的目标是：找到一组参数 𝑤，让模型对这批数据的“解释能力”最强。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即引入损失函数量化“解释能力”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问题提出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模型建立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0" y="0"/>
            <a:ext cx="2705100" cy="635000"/>
          </a:xfrm>
          <a:prstGeom prst="rect">
            <a:avLst/>
          </a:prstGeom>
          <a:solidFill>
            <a:srgbClr val="FFFFFF">
              <a:alpha val="12549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81280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损失推导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关键转折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算法与实验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1A3A5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三、损失函数的推导（续）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98600"/>
            <a:ext cx="762000" cy="0"/>
          </a:xfrm>
          <a:prstGeom prst="straightConnector1">
            <a:avLst/>
          </a:prstGeom>
          <a:noFill/>
          <a:ln w="38100">
            <a:solidFill>
              <a:srgbClr val="C0392B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62000" y="1841500"/>
            <a:ext cx="355600" cy="355600"/>
          </a:xfrm>
          <a:prstGeom prst="ellipse">
            <a:avLst/>
          </a:prstGeom>
          <a:solidFill>
            <a:srgbClr val="1A3A5C"/>
          </a:solidFill>
        </p:spPr>
      </p:sp>
      <p:sp>
        <p:nvSpPr>
          <p:cNvPr id="13" name="Text 11"/>
          <p:cNvSpPr/>
          <p:nvPr/>
        </p:nvSpPr>
        <p:spPr>
          <a:xfrm>
            <a:off x="762000" y="1841500"/>
            <a:ext cx="3556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12"/>
              <p:cNvSpPr/>
              <p:nvPr/>
            </p:nvSpPr>
            <p:spPr>
              <a:xfrm>
                <a:off x="1270000" y="1778000"/>
                <a:ext cx="13970000" cy="101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取对数：把连乘变求和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𝒍𝒐𝒈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⁡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𝑳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𝒘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𝒃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𝒍𝒐𝒈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⁡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𝝈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𝒃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)+(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𝟏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𝒍𝒐𝒈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⁡(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𝟏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𝝈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𝒃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))]</m:t>
                      </m:r>
                    </m:oMath>
                  </m:oMathPara>
                </a14:m>
                <a:endParaRPr 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1778000"/>
                <a:ext cx="13970000" cy="1016000"/>
              </a:xfrm>
              <a:prstGeom prst="rect">
                <a:avLst/>
              </a:prstGeom>
              <a:blipFill rotWithShape="1">
                <a:blip r:embed="rId1"/>
                <a:stretch>
                  <a:fillRect b="-16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762000" y="3175000"/>
            <a:ext cx="355600" cy="35560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16" name="Text 14"/>
          <p:cNvSpPr/>
          <p:nvPr/>
        </p:nvSpPr>
        <p:spPr>
          <a:xfrm>
            <a:off x="762000" y="3175000"/>
            <a:ext cx="3556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15"/>
              <p:cNvSpPr/>
              <p:nvPr/>
            </p:nvSpPr>
            <p:spPr>
              <a:xfrm>
                <a:off x="1270000" y="3111500"/>
                <a:ext cx="13970000" cy="15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最大化变最小化 → 交叉熵损失函数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最大化似然等价于最小化负对数似然：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𝑳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𝒘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𝒃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)=−</m:t>
                      </m:r>
                      <m:f>
                        <m:f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sSubSup>
                        <m:sSub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𝒍𝒐𝒈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⁡</m:t>
                      </m:r>
                      <m:sSub>
                        <m:sSub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2400" b="1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𝒚</m:t>
                              </m:r>
                            </m:e>
                            <m:lim>
                              <m:r>
                                <a:rPr lang="en-US" sz="2400" b="1" dirty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+(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𝟏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𝒍𝒐𝒈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⁡(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𝟏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2400" b="1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𝒚</m:t>
                              </m:r>
                            </m:e>
                            <m:lim>
                              <m:r>
                                <a:rPr lang="en-US" sz="2400" b="1" dirty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3111500"/>
                <a:ext cx="13970000" cy="1524000"/>
              </a:xfrm>
              <a:prstGeom prst="rect">
                <a:avLst/>
              </a:prstGeom>
              <a:blipFill rotWithShape="1">
                <a:blip r:embed="rId2"/>
                <a:stretch>
                  <a:fillRect b="-48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16"/>
          <p:cNvSpPr/>
          <p:nvPr/>
        </p:nvSpPr>
        <p:spPr>
          <a:xfrm>
            <a:off x="939800" y="2197100"/>
            <a:ext cx="0" cy="977900"/>
          </a:xfrm>
          <a:prstGeom prst="straightConnector1">
            <a:avLst/>
          </a:prstGeom>
          <a:noFill/>
          <a:ln w="25400">
            <a:solidFill>
              <a:srgbClr val="E0DBD2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25500" y="5333999"/>
            <a:ext cx="14732000" cy="1016000"/>
          </a:xfrm>
          <a:prstGeom prst="rect">
            <a:avLst/>
          </a:prstGeom>
          <a:solidFill>
            <a:srgbClr val="F3F0EA"/>
          </a:solidFill>
        </p:spPr>
      </p:sp>
      <p:sp>
        <p:nvSpPr>
          <p:cNvPr id="20" name="Shape 18"/>
          <p:cNvSpPr/>
          <p:nvPr/>
        </p:nvSpPr>
        <p:spPr>
          <a:xfrm flipH="1">
            <a:off x="825499" y="5333998"/>
            <a:ext cx="45719" cy="1016000"/>
          </a:xfrm>
          <a:prstGeom prst="rect">
            <a:avLst/>
          </a:prstGeom>
          <a:solidFill>
            <a:srgbClr val="C0392B"/>
          </a:solidFill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19"/>
              <p:cNvSpPr/>
              <p:nvPr/>
            </p:nvSpPr>
            <p:spPr>
              <a:xfrm>
                <a:off x="939800" y="5143499"/>
                <a:ext cx="14236700" cy="1206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800" b="1" dirty="0">
                    <a:solidFill>
                      <a:srgbClr val="C0392B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结论：</a:t>
                </a:r>
                <a:r>
                  <a:rPr lang="en-US" sz="1800" b="1" dirty="0">
                    <a:solidFill>
                      <a:srgbClr val="2C2C2C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交叉熵损失函数衡量预测概率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en-US" sz="1300" i="1" dirty="0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sz="13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lim>
                            <m:r>
                              <a:rPr lang="en-US" sz="1300" dirty="0">
                                <a:latin typeface="Cambria Math" panose="02040503050406030204" pitchFamily="18" charset="0"/>
                              </a:rPr>
                              <m:t>^</m:t>
                            </m:r>
                          </m:lim>
                        </m:limUpp>
                      </m:e>
                      <m:sub>
                        <m:r>
                          <a:rPr lang="en-US" sz="13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b="1" dirty="0">
                    <a:solidFill>
                      <a:srgbClr val="2C2C2C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 与真实标签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3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b="1" dirty="0">
                    <a:solidFill>
                      <a:srgbClr val="2C2C2C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 之间的差距。当预测与真实一致时损失趋近于 0，不一致时损失趋近于 </a:t>
                </a:r>
                <a14:m>
                  <m:oMath xmlns:m="http://schemas.openxmlformats.org/officeDocument/2006/math">
                    <m:r>
                      <a:rPr lang="en-US" sz="1800" b="1" dirty="0">
                        <a:latin typeface="Cambria Math" panose="02040503050406030204" pitchFamily="18" charset="0"/>
                      </a:rPr>
                      <m:t>+∞</m:t>
                    </m:r>
                  </m:oMath>
                </a14:m>
                <a:r>
                  <a:rPr lang="en-US" sz="1800" b="1" dirty="0">
                    <a:solidFill>
                      <a:srgbClr val="2C2C2C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。</a:t>
                </a:r>
                <a:endParaRPr lang="en-US" sz="1800" dirty="0"/>
              </a:p>
            </p:txBody>
          </p:sp>
        </mc:Choice>
        <mc:Fallback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5143499"/>
                <a:ext cx="14236700" cy="1206499"/>
              </a:xfrm>
              <a:prstGeom prst="rect">
                <a:avLst/>
              </a:prstGeom>
              <a:blipFill rotWithShape="1">
                <a:blip r:embed="rId3"/>
                <a:stretch>
                  <a:fillRect t="-53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20"/>
              <p:cNvSpPr/>
              <p:nvPr/>
            </p:nvSpPr>
            <p:spPr>
              <a:xfrm>
                <a:off x="762000" y="6477000"/>
                <a:ext cx="14732000" cy="177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en-US" sz="2000" b="1" dirty="0">
                    <a:solidFill>
                      <a:srgbClr val="7A7A7A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为什么不用 MSE？</a:t>
                </a:r>
                <a:endParaRPr lang="en-US" sz="2000" dirty="0"/>
              </a:p>
              <a:p>
                <a:pPr>
                  <a:lnSpc>
                    <a:spcPct val="160000"/>
                  </a:lnSpc>
                </a:pPr>
                <a:r>
                  <a:rPr lang="en-US" sz="2000" dirty="0">
                    <a:solidFill>
                      <a:srgbClr val="7A7A7A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若对逻辑回归使用 MSE：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𝑴𝑺𝑬</m:t>
                        </m:r>
                      </m:sub>
                    </m:sSub>
                    <m:r>
                      <a:rPr lang="en-US" sz="2000" b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r>
                      <a:rPr lang="en-US" sz="2000" b="1" dirty="0">
                        <a:latin typeface="Cambria Math" panose="02040503050406030204" pitchFamily="18" charset="0"/>
                      </a:rPr>
                      <m:t>∑(</m:t>
                    </m:r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lim>
                            <m:r>
                              <a:rPr lang="en-US" sz="2000" b="1" dirty="0">
                                <a:latin typeface="Cambria Math" panose="02040503050406030204" pitchFamily="18" charset="0"/>
                              </a:rPr>
                              <m:t>^</m:t>
                            </m:r>
                          </m:lim>
                        </m:limUpp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sSup>
                      <m:sSup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7A7A7A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，由于 Sigmoid 函数的饱和性，当预测接近 0 或 1 时梯度几乎为 0，导致梯度下降停滞（梯度消失）。</a:t>
                </a:r>
                <a:endParaRPr lang="en-US" sz="2000" dirty="0"/>
              </a:p>
              <a:p>
                <a:pPr>
                  <a:lnSpc>
                    <a:spcPct val="160000"/>
                  </a:lnSpc>
                </a:pPr>
                <a:r>
                  <a:rPr lang="en-US" sz="2000" dirty="0">
                    <a:solidFill>
                      <a:srgbClr val="7A7A7A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交叉熵的梯度形式更简洁，不会出现梯度消失问题。</a:t>
                </a:r>
                <a:endParaRPr lang="en-US" sz="2000" dirty="0"/>
              </a:p>
            </p:txBody>
          </p:sp>
        </mc:Choice>
        <mc:Fallback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6477000"/>
                <a:ext cx="14732000" cy="1778000"/>
              </a:xfrm>
              <a:prstGeom prst="rect">
                <a:avLst/>
              </a:prstGeom>
              <a:blipFill rotWithShape="1">
                <a:blip r:embed="rId4"/>
                <a:stretch>
                  <a:fillRect b="-24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问题提出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模型建立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损失推导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833100" y="0"/>
            <a:ext cx="2717800" cy="635000"/>
          </a:xfrm>
          <a:prstGeom prst="rect">
            <a:avLst/>
          </a:prstGeom>
          <a:solidFill>
            <a:srgbClr val="FFFFFF">
              <a:alpha val="12549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0833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关键转折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算法与实验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889000"/>
            <a:ext cx="762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1A3A5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四、关键转折：为什么必须用优化算法？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98600"/>
            <a:ext cx="762000" cy="0"/>
          </a:xfrm>
          <a:prstGeom prst="straightConnector1">
            <a:avLst/>
          </a:prstGeom>
          <a:noFill/>
          <a:ln w="38100">
            <a:solidFill>
              <a:srgbClr val="C0392B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62000" y="1498600"/>
            <a:ext cx="7366635" cy="4814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" y="1498600"/>
            <a:ext cx="7359015" cy="55880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14" name="Text 12"/>
          <p:cNvSpPr/>
          <p:nvPr/>
        </p:nvSpPr>
        <p:spPr>
          <a:xfrm>
            <a:off x="762000" y="1498600"/>
            <a:ext cx="7112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线性回归的"幸运" ✓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/>
              <p:nvPr/>
            </p:nvSpPr>
            <p:spPr>
              <a:xfrm>
                <a:off x="1016000" y="2539999"/>
                <a:ext cx="6604000" cy="315050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线性回归损失函数：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𝒇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𝒘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𝒏</m:t>
                        </m:r>
                      </m:den>
                    </m:f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∥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𝑿𝒘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𝒚</m:t>
                    </m:r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dirty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令梯度为零：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𝜵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𝒇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𝒘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𝒏</m:t>
                        </m:r>
                      </m:den>
                    </m:f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𝑿𝒘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𝒚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)=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𝑿𝒘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𝒚</m:t>
                    </m:r>
                  </m:oMath>
                </a14:m>
                <a:endParaRPr 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这是一个</a:t>
                </a:r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线性方程组</a:t>
                </a:r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，直接解出：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endParaRPr lang="en-US" sz="2400" b="1" dirty="0">
                  <a:solidFill>
                    <a:srgbClr val="2D6A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539999"/>
                <a:ext cx="6604000" cy="3150507"/>
              </a:xfrm>
              <a:prstGeom prst="rect">
                <a:avLst/>
              </a:prstGeom>
              <a:blipFill rotWithShape="1">
                <a:blip r:embed="rId1"/>
                <a:stretch>
                  <a:fillRect t="-20" b="-285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8382000" y="1829435"/>
            <a:ext cx="7129145" cy="4563745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2000" y="1498600"/>
            <a:ext cx="7112000" cy="55880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8" name="Text 16"/>
          <p:cNvSpPr/>
          <p:nvPr/>
        </p:nvSpPr>
        <p:spPr>
          <a:xfrm>
            <a:off x="8382000" y="1588770"/>
            <a:ext cx="7112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逻辑回归：好运用完了 ✗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7"/>
              <p:cNvSpPr/>
              <p:nvPr/>
            </p:nvSpPr>
            <p:spPr>
              <a:xfrm>
                <a:off x="8531679" y="2147478"/>
                <a:ext cx="6708321" cy="36820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同样令梯度为零：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𝜵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𝒇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𝒘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𝒏</m:t>
                        </m:r>
                      </m:den>
                    </m:f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𝝈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𝑿𝒘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)−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𝒚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)=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展开后，参数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被"锁"在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𝝈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dirty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dirty="0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400" b="1" dirty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里：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∑(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𝝈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这是一个</a:t>
                </a:r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超越方程</a:t>
                </a:r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无法像线性方程那样直接"解出来"。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400" b="1" dirty="0">
                    <a:solidFill>
                      <a:srgbClr val="C0392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→ 无闭合解，必须借助迭代优化算法。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679" y="2147478"/>
                <a:ext cx="6708321" cy="3682091"/>
              </a:xfrm>
              <a:prstGeom prst="rect">
                <a:avLst/>
              </a:prstGeom>
              <a:blipFill rotWithShape="1">
                <a:blip r:embed="rId2"/>
                <a:stretch>
                  <a:fillRect l="-7" t="-15" b="-1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20"/>
          <p:cNvSpPr/>
          <p:nvPr/>
        </p:nvSpPr>
        <p:spPr>
          <a:xfrm>
            <a:off x="761365" y="6384290"/>
            <a:ext cx="14732635" cy="2179955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23" name="Text 21"/>
          <p:cNvSpPr/>
          <p:nvPr/>
        </p:nvSpPr>
        <p:spPr>
          <a:xfrm>
            <a:off x="-122464" y="6096000"/>
            <a:ext cx="15362464" cy="2705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结论：正是因为方程解不出来，梯度下降法和牛顿法才登场</a:t>
            </a: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！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问题提出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模型建立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损失推导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关键转折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solidFill>
            <a:srgbClr val="FFFFFF">
              <a:alpha val="12549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算法与实验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889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1A3A5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五、梯度结论与算法登场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98600"/>
            <a:ext cx="762000" cy="0"/>
          </a:xfrm>
          <a:prstGeom prst="straightConnector1">
            <a:avLst/>
          </a:prstGeom>
          <a:noFill/>
          <a:ln w="38100">
            <a:solidFill>
              <a:srgbClr val="C0392B"/>
            </a:solidFill>
            <a:prstDash val="solid"/>
            <a:headEnd type="none"/>
            <a:tailEnd type="non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825500" y="1458594"/>
                <a:ext cx="14668500" cy="140425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en-US" sz="2000" b="1" dirty="0">
                    <a:solidFill>
                      <a:srgbClr val="1A3A5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梯度公式（结论）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0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利用链式法则，对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sz="2000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𝑤</m:t>
                    </m:r>
                    <m:r>
                      <a:rPr lang="en-US" sz="2000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求梯度，得到极其简洁的形式：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𝜵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𝒇</m:t>
                    </m:r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𝒘</m:t>
                    </m:r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𝒏</m:t>
                        </m:r>
                      </m:den>
                    </m:f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limUpp>
                      <m:limUppPr>
                        <m:ctrlP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𝒚</m:t>
                        </m:r>
                      </m:e>
                      <m:lim>
                        <m:r>
                          <a:rPr lang="en-US" sz="2000" b="1" dirty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^</m:t>
                        </m:r>
                      </m:lim>
                    </m:limUpp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𝒚</m:t>
                    </m:r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sz="2000" b="1" i="1" dirty="0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𝒚</m:t>
                            </m:r>
                          </m:e>
                          <m:lim>
                            <m:r>
                              <a:rPr lang="en-US" sz="2000" b="1" dirty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^</m:t>
                            </m:r>
                          </m:lim>
                        </m:limUpp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𝝈</m:t>
                    </m:r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endParaRPr lang="en-US" sz="18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1458594"/>
                <a:ext cx="14668500" cy="1404255"/>
              </a:xfrm>
              <a:prstGeom prst="rect">
                <a:avLst/>
              </a:prstGeom>
              <a:blipFill rotWithShape="1">
                <a:blip r:embed="rId1"/>
                <a:stretch>
                  <a:fillRect t="-45" b="-54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62000" y="5715000"/>
            <a:ext cx="14732000" cy="0"/>
          </a:xfrm>
          <a:prstGeom prst="straightConnector1">
            <a:avLst/>
          </a:prstGeom>
          <a:noFill/>
          <a:ln w="12700">
            <a:solidFill>
              <a:srgbClr val="E0DB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12"/>
              <p:cNvSpPr/>
              <p:nvPr/>
            </p:nvSpPr>
            <p:spPr>
              <a:xfrm>
                <a:off x="704850" y="3077844"/>
                <a:ext cx="7112000" cy="23567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en-US" sz="2400" b="1" dirty="0">
                    <a:solidFill>
                      <a:srgbClr val="1A3A5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算法一：梯度下降法（BGD）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每次沿梯度反方向走一步：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𝜶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limUpp>
                            <m:limUppPr>
                              <m:ctrlPr>
                                <a:rPr lang="en-US" sz="2400" b="1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𝒚</m:t>
                              </m:r>
                            </m:e>
                            <m:lim>
                              <m:r>
                                <a:rPr lang="en-US" sz="2400" b="1" dirty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^</m:t>
                              </m:r>
                            </m:lim>
                          </m:limUpp>
                        </m:e>
                        <m:sup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𝒚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3077844"/>
                <a:ext cx="7112000" cy="2356753"/>
              </a:xfrm>
              <a:prstGeom prst="rect">
                <a:avLst/>
              </a:prstGeom>
              <a:blipFill rotWithShape="1">
                <a:blip r:embed="rId2"/>
                <a:stretch>
                  <a:fillRect t="-27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/>
              <p:nvPr/>
            </p:nvSpPr>
            <p:spPr>
              <a:xfrm>
                <a:off x="7171690" y="2862580"/>
                <a:ext cx="8322310" cy="26409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en-US" sz="2400" b="1" dirty="0">
                    <a:solidFill>
                      <a:srgbClr val="C0392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算法二：牛顿法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利用二阶信息（Hessian 矩阵）修正方向：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−[</m:t>
                      </m:r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𝜵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𝒇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𝜵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𝒇</m:t>
                      </m:r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400" b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1" dirty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sz="24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其中 Hessian：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𝜵</m:t>
                        </m:r>
                      </m:e>
                      <m:sup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𝒇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𝒘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𝒏</m:t>
                        </m:r>
                      </m:den>
                    </m:f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𝑫𝑿</m:t>
                    </m:r>
                  </m:oMath>
                </a14:m>
                <a:r>
                  <a:rPr lang="en-US" sz="24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𝑫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𝐝𝐢𝐚𝐠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𝟏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690" y="2862580"/>
                <a:ext cx="8322310" cy="26409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704850" y="5819317"/>
            <a:ext cx="14732000" cy="0"/>
          </a:xfrm>
          <a:prstGeom prst="straightConnector1">
            <a:avLst/>
          </a:prstGeom>
          <a:noFill/>
          <a:ln w="12700">
            <a:solidFill>
              <a:srgbClr val="E0DBD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62000" y="5493653"/>
            <a:ext cx="14732000" cy="1199247"/>
          </a:xfrm>
          <a:prstGeom prst="rect">
            <a:avLst/>
          </a:prstGeom>
          <a:solidFill>
            <a:srgbClr val="F3F0EA"/>
          </a:solidFill>
        </p:spPr>
      </p:sp>
      <p:sp>
        <p:nvSpPr>
          <p:cNvPr id="18" name="Shape 16"/>
          <p:cNvSpPr/>
          <p:nvPr/>
        </p:nvSpPr>
        <p:spPr>
          <a:xfrm>
            <a:off x="762000" y="5493653"/>
            <a:ext cx="63500" cy="1199247"/>
          </a:xfrm>
          <a:prstGeom prst="rect">
            <a:avLst/>
          </a:prstGeom>
          <a:solidFill>
            <a:srgbClr val="2D6A4F"/>
          </a:solidFill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7"/>
              <p:cNvSpPr/>
              <p:nvPr/>
            </p:nvSpPr>
            <p:spPr>
              <a:xfrm>
                <a:off x="1079500" y="5649595"/>
                <a:ext cx="140970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2800" b="1" dirty="0">
                    <a:solidFill>
                      <a:srgbClr val="2D6A4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凸性保证：</a:t>
                </a:r>
                <a:r>
                  <a:rPr lang="en-US" sz="28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Hessian 半正定 →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sz="2800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𝑤</m:t>
                    </m:r>
                    <m:r>
                      <a:rPr lang="en-US" sz="2800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是</a:t>
                </a:r>
                <a:r>
                  <a:rPr lang="en-US" sz="28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严格凸函数</a:t>
                </a:r>
                <a:r>
                  <a:rPr lang="en-US" sz="28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→ </a:t>
                </a:r>
                <a:r>
                  <a:rPr lang="en-US" sz="28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唯一全局最优解</a:t>
                </a:r>
                <a:r>
                  <a:rPr lang="en-US" sz="2800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，不会陷入局部极小！</a:t>
                </a:r>
                <a:endParaRPr lang="en-US" sz="28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5649595"/>
                <a:ext cx="14097000" cy="889000"/>
              </a:xfrm>
              <a:prstGeom prst="rect">
                <a:avLst/>
              </a:prstGeom>
              <a:blipFill rotWithShape="1">
                <a:blip r:embed="rId4"/>
                <a:stretch>
                  <a:fillRect r="-2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0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762000" y="6851015"/>
          <a:ext cx="14732000" cy="1790065"/>
        </p:xfrm>
        <a:graphic>
          <a:graphicData uri="http://schemas.openxmlformats.org/drawingml/2006/table">
            <a:tbl>
              <a:tblPr/>
              <a:tblGrid>
                <a:gridCol w="3683000"/>
                <a:gridCol w="5524500"/>
                <a:gridCol w="5524500"/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对比维度</a:t>
                      </a:r>
                      <a:endParaRPr lang="en-US" sz="18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梯度下降法</a:t>
                      </a:r>
                      <a:endParaRPr lang="en-US" sz="18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牛顿法</a:t>
                      </a:r>
                      <a:endParaRPr lang="en-US" sz="18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8039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C2C2C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更新方向</a:t>
                      </a:r>
                      <a:endParaRPr lang="en-US" sz="18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C2C2C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仅使用一阶梯度</a:t>
                      </a:r>
                      <a:endParaRPr lang="en-US" sz="18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C2C2C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梯度 + Hessian 二阶信息</a:t>
                      </a:r>
                      <a:endParaRPr lang="en-US" sz="18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C2C2C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收敛速度</a:t>
                      </a:r>
                      <a:endParaRPr lang="en-US" sz="18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C2C2C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线性收敛</a:t>
                      </a:r>
                      <a:endParaRPr lang="en-US" sz="18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C0392B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二次收敛</a:t>
                      </a:r>
                      <a:endParaRPr lang="en-US" sz="18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问题提出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模型建立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损失推导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关键转折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solidFill>
            <a:srgbClr val="FFFFFF">
              <a:alpha val="12549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算法与实验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1A3A5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六、收敛速度对比：梯度下降 vs 牛顿法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98600"/>
            <a:ext cx="762000" cy="0"/>
          </a:xfrm>
          <a:prstGeom prst="straightConnector1">
            <a:avLst/>
          </a:prstGeom>
          <a:noFill/>
          <a:ln w="38100">
            <a:solidFill>
              <a:srgbClr val="C0392B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62000" y="1778000"/>
            <a:ext cx="7133590" cy="3866515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" y="1778000"/>
            <a:ext cx="7112000" cy="508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4" name="Text 12"/>
          <p:cNvSpPr/>
          <p:nvPr/>
        </p:nvSpPr>
        <p:spPr>
          <a:xfrm>
            <a:off x="762000" y="1778000"/>
            <a:ext cx="711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梯度下降的"锯齿问题"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4593" y="2476500"/>
            <a:ext cx="6795407" cy="260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每步沿梯度最速方向走，但新梯度方向总与上一步近乎垂直 → 来回摆动，绕弯路。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在细长椭圆等值线上越明显，收敛越慢。这就是"锯齿现象"（zigzag）。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形象化理解</a:t>
            </a:r>
            <a:r>
              <a:rPr lang="en-US" sz="20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："就像只看脚下坡度的登山者，每步都走最陡的方向，却因为不了解山谷形状，来回摆、绕弯路。"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82000" y="1778000"/>
            <a:ext cx="7112000" cy="3877945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2000" y="1778000"/>
            <a:ext cx="7112000" cy="50800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8" name="Text 16"/>
          <p:cNvSpPr/>
          <p:nvPr/>
        </p:nvSpPr>
        <p:spPr>
          <a:xfrm>
            <a:off x="8382000" y="1778000"/>
            <a:ext cx="711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牛顿法的"聪明"：曲率修正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7"/>
              <p:cNvSpPr/>
              <p:nvPr/>
            </p:nvSpPr>
            <p:spPr>
              <a:xfrm>
                <a:off x="8636000" y="2476500"/>
                <a:ext cx="6604000" cy="2413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更新公式中的 </a:t>
                </a:r>
                <a14:m>
                  <m:oMath xmlns:m="http://schemas.openxmlformats.org/officeDocument/2006/math">
                    <m:r>
                      <a:rPr lang="en-US" sz="2000" b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dirty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p>
                        <m:r>
                          <a:rPr lang="en-US" sz="2000" dirty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1" i="1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dirty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sz="2000" dirty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起到自适应缩放：把椭圆等值线"拉成"接近圆形，每步方向更准。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zh-CN" alt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形象化理解</a:t>
                </a:r>
                <a:r>
                  <a:rPr lang="en-US" sz="2000" b="1" dirty="0">
                    <a:solidFill>
                      <a:srgbClr val="2C2C2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："不只知道坡度，还知道地面弯曲程度，步子迈得更准、更有把握。"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0" y="2476500"/>
                <a:ext cx="6604000" cy="2413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741045" y="6005830"/>
          <a:ext cx="14732000" cy="2286000"/>
        </p:xfrm>
        <a:graphic>
          <a:graphicData uri="http://schemas.openxmlformats.org/drawingml/2006/table">
            <a:tbl>
              <a:tblPr/>
              <a:tblGrid>
                <a:gridCol w="3683000"/>
                <a:gridCol w="5524500"/>
                <a:gridCol w="5524500"/>
              </a:tblGrid>
              <a:tr h="505193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对比维度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梯度下降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牛顿法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93602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2C2C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收敛类型</a:t>
                      </a:r>
                      <a:endParaRPr lang="en-US" sz="2000" b="1" u="none" dirty="0">
                        <a:solidFill>
                          <a:srgbClr val="2C2C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2C2C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线性收敛 —— 误差每步乘固定比例 \(c &lt; 1\)，类似等比数列，稳但慢。</a:t>
                      </a:r>
                      <a:endParaRPr lang="en-US" sz="2000" b="1" u="none" dirty="0">
                        <a:solidFill>
                          <a:srgbClr val="2C2C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二次收敛 —— 误差每步被"平方"，接近最优解时极速压缩。</a:t>
                      </a:r>
                      <a:endParaRPr lang="en-US" sz="2000" b="1" u="none" dirty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02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2C2C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数字直觉</a:t>
                      </a:r>
                      <a:endParaRPr lang="en-US" sz="2000" b="1" u="none" dirty="0">
                        <a:solidFill>
                          <a:srgbClr val="2C2C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2C2C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误差 0.1 → 下一步 ≈ 0.09</a:t>
                      </a:r>
                      <a:endParaRPr lang="en-US" sz="2000" b="1" u="none" dirty="0">
                        <a:solidFill>
                          <a:srgbClr val="2C2C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误差 0.1 → 下一步 ≈ 0.01（平方级压缩）</a:t>
                      </a:r>
                      <a:endParaRPr lang="en-US" sz="2000" b="1" u="none" dirty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593602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2C2C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MiSans" pitchFamily="34" charset="-120"/>
                        </a:rPr>
                        <a:t>计算代价</a:t>
                      </a:r>
                      <a:endParaRPr lang="en-US" sz="2000" b="1" u="none" dirty="0">
                        <a:solidFill>
                          <a:srgbClr val="2C2C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MiSans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 err="1">
                          <a:solidFill>
                            <a:srgbClr val="2C2C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每步</a:t>
                      </a:r>
                      <a:r>
                        <a:rPr lang="en-US" sz="2000" b="1" u="none" dirty="0">
                          <a:solidFill>
                            <a:srgbClr val="2C2C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O(d)，计算量小</a:t>
                      </a:r>
                      <a:endParaRPr lang="en-US" sz="2000" b="1" u="none" dirty="0">
                        <a:solidFill>
                          <a:srgbClr val="2C2C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2C2C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每步需计算并求逆 Hessian </a:t>
                      </a:r>
                      <a:r>
                        <a:rPr lang="en-US" sz="2000" b="1" u="none" dirty="0" err="1">
                          <a:solidFill>
                            <a:srgbClr val="2C2C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矩阵</a:t>
                      </a:r>
                      <a:r>
                        <a:rPr lang="zh-CN" altLang="en-US" sz="2000" b="1" u="none" dirty="0">
                          <a:solidFill>
                            <a:srgbClr val="2C2C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sz="2000" b="1" u="none" dirty="0">
                          <a:solidFill>
                            <a:srgbClr val="2C2C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O(d^3)</a:t>
                      </a:r>
                      <a:r>
                        <a:rPr lang="zh-CN" altLang="en-US" sz="2000" b="1" u="none" dirty="0">
                          <a:solidFill>
                            <a:srgbClr val="2C2C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r>
                        <a:rPr lang="en-US" sz="2000" b="1" u="none" dirty="0">
                          <a:solidFill>
                            <a:srgbClr val="2C2C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，特征维度高时计算量大。</a:t>
                      </a:r>
                      <a:endParaRPr lang="en-US" sz="2000" b="1" u="none" dirty="0">
                        <a:solidFill>
                          <a:srgbClr val="2C2C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6525" y="4304665"/>
            <a:ext cx="4265295" cy="429704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问题提出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模型建立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损失推导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关键转折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solidFill>
            <a:srgbClr val="FFFFFF">
              <a:alpha val="12549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算法与实验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1A3A5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六、收敛速度对比：梯度下降 vs 牛顿法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98600"/>
            <a:ext cx="762000" cy="0"/>
          </a:xfrm>
          <a:prstGeom prst="straightConnector1">
            <a:avLst/>
          </a:prstGeom>
          <a:noFill/>
          <a:ln w="38100">
            <a:solidFill>
              <a:srgbClr val="C0392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229870" y="2212340"/>
            <a:ext cx="711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梯度下降的"锯齿问题"</a:t>
            </a:r>
            <a:endParaRPr 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6085" y="3289935"/>
            <a:ext cx="711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牛顿法的"聪明"：曲率修正</a:t>
            </a:r>
            <a:endParaRPr lang="en-US" sz="24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430" y="826135"/>
            <a:ext cx="7576820" cy="817816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" y="4264025"/>
            <a:ext cx="3975735" cy="45827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问题提出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模型建立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损失推导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关键转折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solidFill>
            <a:srgbClr val="FFFFFF">
              <a:alpha val="12549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算法与实验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889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1A3A5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七、代码实现与实验结果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98600"/>
            <a:ext cx="762000" cy="0"/>
          </a:xfrm>
          <a:prstGeom prst="straightConnector1">
            <a:avLst/>
          </a:prstGeom>
          <a:noFill/>
          <a:ln w="38100">
            <a:solidFill>
              <a:srgbClr val="C0392B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62000" y="1714499"/>
            <a:ext cx="7230836" cy="2400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000" y="1676400"/>
            <a:ext cx="7004050" cy="23437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实验设置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数据集：UCI 乳腺癌数据集（569 样本，30 个特征，二分类：良性/恶性）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算法：批量梯度下降（BGD）、随机梯度下降（SGD）、牛顿（Newton）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382000" y="1714499"/>
            <a:ext cx="7112000" cy="2400299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36000" y="1803400"/>
            <a:ext cx="6604000" cy="184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分类准确率（Test Accuracy）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2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BGD：≈ 97.4%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SGD：≈ 96.5%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牛顿法：≈ 97.4%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5500" y="4114798"/>
            <a:ext cx="14668500" cy="16002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收敛曲线（Loss vs Iterations）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牛顿法：</a:t>
            </a:r>
            <a:r>
              <a:rPr lang="en-US" sz="2000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少量迭代即收敛，曲线几乎垂直下降（体现二次收敛）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BGD：</a:t>
            </a:r>
            <a:r>
              <a:rPr lang="en-US" sz="2000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稳定下降，呈现锯齿状（步长较大时明显）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SGD：</a:t>
            </a:r>
            <a:r>
              <a:rPr lang="en-US" sz="2000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波动最大，但每次迭代最快，适合大规模数据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2000" y="6035040"/>
            <a:ext cx="14732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决策边界可视化（二维投影）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取前两个主成分（PCA）降维至 2D，展示三种算法最终学到的决策边界。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三者决策边界几乎重合 —— 验证了在凸优化问题上，不同算法收敛到同一全局最优解</a:t>
            </a:r>
            <a:r>
              <a:rPr lang="en-US" sz="20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5500" y="7684770"/>
            <a:ext cx="14668500" cy="1338036"/>
          </a:xfrm>
          <a:prstGeom prst="rect">
            <a:avLst/>
          </a:prstGeom>
          <a:solidFill>
            <a:srgbClr val="F3F0EA"/>
          </a:solidFill>
        </p:spPr>
      </p:sp>
      <p:sp>
        <p:nvSpPr>
          <p:cNvPr id="19" name="Shape 17"/>
          <p:cNvSpPr/>
          <p:nvPr/>
        </p:nvSpPr>
        <p:spPr>
          <a:xfrm>
            <a:off x="762000" y="7625080"/>
            <a:ext cx="63500" cy="1338036"/>
          </a:xfrm>
          <a:prstGeom prst="rect">
            <a:avLst/>
          </a:prstGeom>
          <a:solidFill>
            <a:srgbClr val="2D6A4F"/>
          </a:solidFill>
        </p:spPr>
        <p:txBody>
          <a:bodyPr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79500" y="7846694"/>
            <a:ext cx="14097000" cy="1013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2D6A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实验结论：</a:t>
            </a:r>
            <a:r>
              <a:rPr lang="en-US" sz="2400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三种算法在测试集上均达到 96% 以上的准确率，验证了逻辑回归模型的有效性。牛顿法收敛最快但计算代价最高，BGD 最稳定，SGD 适合大规模场景</a:t>
            </a:r>
            <a:r>
              <a:rPr lang="en-US" sz="24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问题提出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模型建立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损失推导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关键转折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solidFill>
            <a:srgbClr val="FFFFFF">
              <a:alpha val="12549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算法与实验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889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1A3A5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七、代码实现与实验结果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98600"/>
            <a:ext cx="762000" cy="0"/>
          </a:xfrm>
          <a:prstGeom prst="straightConnector1">
            <a:avLst/>
          </a:prstGeom>
          <a:noFill/>
          <a:ln w="38100">
            <a:solidFill>
              <a:srgbClr val="C0392B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7A7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9 / 10</a:t>
            </a:r>
            <a:endParaRPr lang="en-US" sz="14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283" y="1498600"/>
            <a:ext cx="14137612" cy="690282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问题提出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模型建立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损失推导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关键转折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solidFill>
            <a:srgbClr val="FFFFFF">
              <a:alpha val="12549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算法与实验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889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1A3A5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七、代码实现与实验结果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98600"/>
            <a:ext cx="762000" cy="0"/>
          </a:xfrm>
          <a:prstGeom prst="straightConnector1">
            <a:avLst/>
          </a:prstGeom>
          <a:noFill/>
          <a:ln w="38100">
            <a:solidFill>
              <a:srgbClr val="C0392B"/>
            </a:solidFill>
            <a:prstDash val="solid"/>
            <a:headEnd type="none"/>
            <a:tailEnd type="none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" y="1930401"/>
            <a:ext cx="15852806" cy="524880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问题提出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模型建立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损失推导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关键转折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solidFill>
            <a:srgbClr val="FFFFFF">
              <a:alpha val="12549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算法与实验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889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1A3A5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七、代码</a:t>
            </a:r>
            <a:r>
              <a:rPr lang="zh-CN" altLang="en-US" sz="2800" b="1" dirty="0">
                <a:solidFill>
                  <a:srgbClr val="1A3A5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亮点</a:t>
            </a:r>
            <a:endParaRPr lang="zh-CN" altLang="en-US" sz="2800" b="1" dirty="0">
              <a:solidFill>
                <a:srgbClr val="1A3A5C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1498600"/>
            <a:ext cx="762000" cy="0"/>
          </a:xfrm>
          <a:prstGeom prst="straightConnector1">
            <a:avLst/>
          </a:prstGeom>
          <a:noFill/>
          <a:ln w="38100">
            <a:solidFill>
              <a:srgbClr val="C0392B"/>
            </a:solidFill>
            <a:prstDash val="solid"/>
            <a:headEnd type="none"/>
            <a:tailEnd type="none"/>
          </a:ln>
        </p:spPr>
      </p:sp>
      <p:pic>
        <p:nvPicPr>
          <p:cNvPr id="12" name="图片 11" descr="code_highlight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20" y="1511300"/>
            <a:ext cx="8614410" cy="5352415"/>
          </a:xfrm>
          <a:prstGeom prst="rect">
            <a:avLst/>
          </a:prstGeom>
        </p:spPr>
      </p:pic>
      <p:pic>
        <p:nvPicPr>
          <p:cNvPr id="14" name="图片 13" descr="code_highlight_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260" y="4252595"/>
            <a:ext cx="10110470" cy="44221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问题提出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模型建立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损失推导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66667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关键转折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solidFill>
            <a:srgbClr val="FFFFFF">
              <a:alpha val="12549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13550900" y="0"/>
            <a:ext cx="27051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算法与实验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889000"/>
            <a:ext cx="381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1A3A5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八、总结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98600"/>
            <a:ext cx="762000" cy="0"/>
          </a:xfrm>
          <a:prstGeom prst="straightConnector1">
            <a:avLst/>
          </a:prstGeom>
          <a:noFill/>
          <a:ln w="38100">
            <a:solidFill>
              <a:srgbClr val="C0392B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00405" y="1987550"/>
            <a:ext cx="14732000" cy="171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本次汇报的核心逻辑链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分类问题 → 线性回归不够用 → 引入 Sigmoid，建立逻辑回归模型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最大似然 → 推导交叉熵损失函数 → 令梯度为零无闭合解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C2C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梯度下降（线性收敛）+ 牛顿法（二次收敛）→ 实验验证：收敛曲线 + 决策边界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2000" y="4381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三条核心结论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9130" y="5064760"/>
            <a:ext cx="355600" cy="35560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15" name="Text 13"/>
          <p:cNvSpPr/>
          <p:nvPr/>
        </p:nvSpPr>
        <p:spPr>
          <a:xfrm>
            <a:off x="659130" y="5064760"/>
            <a:ext cx="355600" cy="4292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29360" y="5013960"/>
            <a:ext cx="13970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2C2C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逻辑回归的损失函数是</a:t>
            </a:r>
            <a:r>
              <a:rPr lang="en-US" sz="2400" b="1" dirty="0">
                <a:solidFill>
                  <a:srgbClr val="2C2C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严格凸的，保证</a:t>
            </a:r>
            <a:r>
              <a:rPr lang="en-US" sz="2400" b="1" dirty="0">
                <a:solidFill>
                  <a:srgbClr val="2C2C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全局最优解唯一。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59130" y="5636260"/>
            <a:ext cx="355600" cy="35560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18" name="Text 16"/>
          <p:cNvSpPr/>
          <p:nvPr/>
        </p:nvSpPr>
        <p:spPr>
          <a:xfrm>
            <a:off x="659130" y="5636260"/>
            <a:ext cx="3556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7"/>
              <p:cNvSpPr/>
              <p:nvPr/>
            </p:nvSpPr>
            <p:spPr>
              <a:xfrm>
                <a:off x="1270000" y="5567680"/>
                <a:ext cx="13970000" cy="4064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2400" b="1" dirty="0">
                    <a:solidFill>
                      <a:srgbClr val="2C2C2C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梯度形式 </a:t>
                </a:r>
                <a14:m>
                  <m:oMath xmlns:m="http://schemas.openxmlformats.org/officeDocument/2006/math">
                    <m:r>
                      <a:rPr lang="en-US" sz="2400" b="1" dirty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1" dirty="0">
                        <a:latin typeface="Cambria Math" panose="02040503050406030204" pitchFamily="18" charset="0"/>
                      </a:rPr>
                      <m:t>(</m:t>
                    </m:r>
                    <m:limUpp>
                      <m:limUpp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lim>
                        <m:r>
                          <a:rPr lang="en-US" sz="2400" b="1" dirty="0"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  <m:r>
                      <a:rPr lang="en-US" sz="2400" b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1" dirty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1" dirty="0">
                    <a:solidFill>
                      <a:srgbClr val="2C2C2C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 与线性回归</a:t>
                </a:r>
                <a:r>
                  <a:rPr lang="en-US" sz="2400" b="1" dirty="0">
                    <a:solidFill>
                      <a:srgbClr val="2C2C2C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完全一致，优雅且统一。</a:t>
                </a:r>
                <a:endParaRPr lang="en-US" sz="2400" dirty="0"/>
              </a:p>
            </p:txBody>
          </p:sp>
        </mc:Choice>
        <mc:Fallback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5567680"/>
                <a:ext cx="13970000" cy="406400"/>
              </a:xfrm>
              <a:prstGeom prst="rect">
                <a:avLst/>
              </a:prstGeom>
              <a:blipFill rotWithShape="1">
                <a:blip r:embed="rId1"/>
                <a:stretch>
                  <a:fillRect t="-43437" b="-435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hape 18"/>
          <p:cNvSpPr/>
          <p:nvPr/>
        </p:nvSpPr>
        <p:spPr>
          <a:xfrm>
            <a:off x="659130" y="6207760"/>
            <a:ext cx="355600" cy="35560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21" name="Text 19"/>
          <p:cNvSpPr/>
          <p:nvPr/>
        </p:nvSpPr>
        <p:spPr>
          <a:xfrm>
            <a:off x="659130" y="6207760"/>
            <a:ext cx="3556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70000" y="6121400"/>
            <a:ext cx="13970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2C2C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牛顿法收敛远快于梯度下降，但每步代价更高（需逆 Hessian），</a:t>
            </a:r>
            <a:r>
              <a:rPr lang="en-US" sz="2400" b="1" dirty="0">
                <a:solidFill>
                  <a:srgbClr val="2C2C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二者各有适用场景。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62000" y="7188200"/>
            <a:ext cx="1473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000" y="7188200"/>
            <a:ext cx="14732000" cy="457200"/>
          </a:xfrm>
          <a:prstGeom prst="rect">
            <a:avLst/>
          </a:prstGeom>
          <a:solidFill>
            <a:srgbClr val="F3F0EA"/>
          </a:solidFill>
        </p:spPr>
      </p:sp>
      <p:sp>
        <p:nvSpPr>
          <p:cNvPr id="25" name="Text 23"/>
          <p:cNvSpPr/>
          <p:nvPr/>
        </p:nvSpPr>
        <p:spPr>
          <a:xfrm>
            <a:off x="817880" y="7188200"/>
            <a:ext cx="254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7A7A7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延伸思考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24"/>
              <p:cNvSpPr/>
              <p:nvPr/>
            </p:nvSpPr>
            <p:spPr>
              <a:xfrm>
                <a:off x="859155" y="7617460"/>
                <a:ext cx="142240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en-US" dirty="0">
                    <a:solidFill>
                      <a:srgbClr val="7A7A7A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加入 L2 正则化（Ridge）后，损失函数仍然严格凸，优化算法不变，但解的泛化能力更强。</a:t>
                </a:r>
                <a:endParaRPr lang="en-US" dirty="0"/>
              </a:p>
              <a:p>
                <a:pPr>
                  <a:lnSpc>
                    <a:spcPct val="160000"/>
                  </a:lnSpc>
                </a:pPr>
                <a:r>
                  <a:rPr lang="en-US" dirty="0">
                    <a:solidFill>
                      <a:srgbClr val="7A7A7A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当特征维度极高时，牛顿法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7A7A7A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 代价过大，拟牛顿法（L-BFGS）是工业界常用替代方案</a:t>
                </a:r>
                <a:r>
                  <a:rPr lang="en-US" sz="1800" b="1" dirty="0">
                    <a:solidFill>
                      <a:srgbClr val="7A7A7A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。</a:t>
                </a:r>
                <a:endParaRPr lang="en-US" sz="1800" dirty="0"/>
              </a:p>
            </p:txBody>
          </p:sp>
        </mc:Choice>
        <mc:Fallback>
          <p:sp>
            <p:nvSpPr>
              <p:cNvPr id="26" name="Text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55" y="7617460"/>
                <a:ext cx="14224000" cy="889000"/>
              </a:xfrm>
              <a:prstGeom prst="rect">
                <a:avLst/>
              </a:prstGeom>
              <a:blipFill rotWithShape="1">
                <a:blip r:embed="rId2"/>
                <a:stretch>
                  <a:fillRect b="-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TABLE_ENDDRAG_ORIGIN_RECT" val="1160*140"/>
  <p:tag name="TABLE_ENDDRAG_RECT" val="60*555*1160*14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3832</Words>
  <Application>WPS 演示</Application>
  <PresentationFormat>自定义</PresentationFormat>
  <Paragraphs>388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宋体</vt:lpstr>
      <vt:lpstr>Wingdings</vt:lpstr>
      <vt:lpstr>MiSans</vt:lpstr>
      <vt:lpstr>MiSans</vt:lpstr>
      <vt:lpstr>微软雅黑</vt:lpstr>
      <vt:lpstr>Cambria Math</vt:lpstr>
      <vt:lpstr>MS Mincho</vt:lpstr>
      <vt:lpstr>Liter</vt:lpstr>
      <vt:lpstr>Liter</vt:lpstr>
      <vt:lpstr>Liter</vt:lpstr>
      <vt:lpstr>等线</vt:lpstr>
      <vt:lpstr>Arial Unicode MS</vt:lpstr>
      <vt:lpstr>等线 Light</vt:lpstr>
      <vt:lpstr>BatangChe</vt:lpstr>
      <vt:lpstr>Segoe Print</vt:lpstr>
      <vt:lpstr>Calibri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矩阵实验课-逻辑回归</dc:title>
  <dc:creator>Kimi</dc:creator>
  <dc:subject>矩阵实验课-逻辑回归</dc:subject>
  <cp:lastModifiedBy>WPS_1752117523</cp:lastModifiedBy>
  <cp:revision>21</cp:revision>
  <dcterms:created xsi:type="dcterms:W3CDTF">2026-05-12T07:00:00Z</dcterms:created>
  <dcterms:modified xsi:type="dcterms:W3CDTF">2026-05-18T14:01:57Z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矩阵实验课-逻辑回归","ContentProducer":"001191110108MACG2KBH8F10000","ProduceID":"19e1af82-2e02-851c-8000-000097b71d59","ReservedCode1":"","ContentPropagator":"001191110108MACG2KBH8F20000","PropagateID":"19e1af82-2e02-851c-8000-000097b71d59","ReservedCode2":""}</vt:lpwstr>
  </property>
  <property fmtid="{D5CDD505-2E9C-101B-9397-08002B2CF9AE}" pid="3" name="ICV">
    <vt:lpwstr>E23D7A572C0C4823A965F337A1F0D979_12</vt:lpwstr>
  </property>
  <property fmtid="{D5CDD505-2E9C-101B-9397-08002B2CF9AE}" pid="4" name="KSOProductBuildVer">
    <vt:lpwstr>2052-12.1.0.26375</vt:lpwstr>
  </property>
</Properties>
</file>